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Lines by language (24,282)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Lines</c:v>
                </c:pt>
              </c:strCache>
            </c:strRef>
          </c:tx>
          <c:dPt>
            <c:idx val="0"/>
            <c:spPr>
              <a:solidFill>
                <a:srgbClr val="14495C"/>
              </a:solidFill>
            </c:spPr>
          </c:dPt>
          <c:dPt>
            <c:idx val="1"/>
            <c:spPr>
              <a:solidFill>
                <a:srgbClr val="1B6076"/>
              </a:solidFill>
            </c:spPr>
          </c:dPt>
          <c:dPt>
            <c:idx val="2"/>
            <c:spPr>
              <a:solidFill>
                <a:srgbClr val="C2A05B"/>
              </a:solidFill>
            </c:spPr>
          </c:dPt>
          <c:dPt>
            <c:idx val="3"/>
            <c:spPr>
              <a:solidFill>
                <a:srgbClr val="58B6C9"/>
              </a:solidFill>
            </c:spPr>
          </c:dPt>
          <c:dPt>
            <c:idx val="4"/>
            <c:spPr>
              <a:solidFill>
                <a:srgbClr val="8BA0A6"/>
              </a:solidFill>
            </c:spPr>
          </c:dPt>
          <c:dPt>
            <c:idx val="5"/>
            <c:spPr>
              <a:solidFill>
                <a:srgbClr val="0D3444"/>
              </a:solidFill>
            </c:spPr>
          </c:dPt>
          <c:cat>
            <c:strRef>
              <c:f>Sheet1!$A$2:$A$7</c:f>
              <c:strCache>
                <c:ptCount val="6"/>
                <c:pt idx="0">
                  <c:v>TSX</c:v>
                </c:pt>
                <c:pt idx="1">
                  <c:v>TS</c:v>
                </c:pt>
                <c:pt idx="2">
                  <c:v>SQL</c:v>
                </c:pt>
                <c:pt idx="3">
                  <c:v>JSON</c:v>
                </c:pt>
                <c:pt idx="4">
                  <c:v>JS</c:v>
                </c:pt>
                <c:pt idx="5">
                  <c:v>CSS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9904</c:v>
                </c:pt>
                <c:pt idx="1">
                  <c:v>8509</c:v>
                </c:pt>
                <c:pt idx="2">
                  <c:v>3971</c:v>
                </c:pt>
                <c:pt idx="3">
                  <c:v>1068</c:v>
                </c:pt>
                <c:pt idx="4">
                  <c:v>554</c:v>
                </c:pt>
                <c:pt idx="5">
                  <c:v>276</c:v>
                </c:pt>
              </c:numCache>
            </c:numRef>
          </c:val>
        </c:ser>
        <c:dLbls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Schema scale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14495C"/>
              </a:solidFill>
            </c:spPr>
          </c:dPt>
          <c:dPt>
            <c:idx val="1"/>
            <c:spPr>
              <a:solidFill>
                <a:srgbClr val="C2A05B"/>
              </a:solidFill>
            </c:spPr>
          </c:dPt>
          <c:dPt>
            <c:idx val="2"/>
            <c:spPr>
              <a:solidFill>
                <a:srgbClr val="58B6C9"/>
              </a:solidFill>
            </c:spPr>
          </c:dPt>
          <c:dPt>
            <c:idx val="3"/>
            <c:spPr>
              <a:solidFill>
                <a:srgbClr val="0D3444"/>
              </a:solidFill>
            </c:spPr>
          </c:dPt>
          <c:dPt>
            <c:idx val="4"/>
            <c:spPr>
              <a:solidFill>
                <a:srgbClr val="8BA0A6"/>
              </a:solidFill>
            </c:spPr>
          </c:dPt>
          <c:cat>
            <c:strRef>
              <c:f>Sheet1!$A$2:$A$6</c:f>
              <c:strCache>
                <c:ptCount val="5"/>
                <c:pt idx="0">
                  <c:v>Tables</c:v>
                </c:pt>
                <c:pt idx="1">
                  <c:v>RLS policies</c:v>
                </c:pt>
                <c:pt idx="2">
                  <c:v>RPC funcs</c:v>
                </c:pt>
                <c:pt idx="3">
                  <c:v>Buckets</c:v>
                </c:pt>
                <c:pt idx="4">
                  <c:v>Migrations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62</c:v>
                </c:pt>
                <c:pt idx="2">
                  <c:v>40</c:v>
                </c:pt>
                <c:pt idx="3">
                  <c:v>3</c:v>
                </c:pt>
                <c:pt idx="4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Findings by severity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dPt>
            <c:idx val="0"/>
            <c:spPr>
              <a:solidFill>
                <a:srgbClr val="CF3B30"/>
              </a:solidFill>
            </c:spPr>
          </c:dPt>
          <c:dPt>
            <c:idx val="1"/>
            <c:spPr>
              <a:solidFill>
                <a:srgbClr val="9A6B1A"/>
              </a:solidFill>
            </c:spPr>
          </c:dPt>
          <c:dPt>
            <c:idx val="2"/>
            <c:spPr>
              <a:solidFill>
                <a:srgbClr val="14495C"/>
              </a:solidFill>
            </c:spPr>
          </c:dPt>
          <c:cat>
            <c:strRef>
              <c:f>Sheet1!$A$2:$A$4</c:f>
              <c:strCache>
                <c:ptCount val="3"/>
                <c:pt idx="0">
                  <c:v>Medium</c:v>
                </c:pt>
                <c:pt idx="1">
                  <c:v>Low</c:v>
                </c:pt>
                <c:pt idx="2">
                  <c:v>Info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Unit tests 70/70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dPt>
            <c:idx val="0"/>
            <c:spPr>
              <a:solidFill>
                <a:srgbClr val="1E7E46"/>
              </a:solidFill>
            </c:spPr>
          </c:dPt>
          <c:dPt>
            <c:idx val="1"/>
            <c:spPr>
              <a:solidFill>
                <a:srgbClr val="E6EBED"/>
              </a:solidFill>
            </c:spPr>
          </c:dPt>
          <c:cat>
            <c:strRef>
              <c:f>Sheet1!$A$2:$A$3</c:f>
              <c:strCache>
                <c:ptCount val="2"/>
                <c:pt idx="0">
                  <c:v>Passing</c:v>
                </c:pt>
                <c:pt idx="1">
                  <c:v>Failing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200" b="1">
                <a:solidFill>
                  <a:srgbClr val="C2A05B"/>
                </a:solidFill>
              </a:rPr>
              <a:t>OUSTIANS  ·  PRIVATE CAMPUS NETWORK  ·  OUST</a:t>
            </a:r>
          </a:p>
          <a:p>
            <a:pPr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</a:rPr>
              <a:t>Technical Report  v1.1  —  Board + Engineering Deck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D9EDEF"/>
                </a:solidFill>
              </a:rPr>
              <a:t>Part A: Summary (5-minute read)  ·  Part B: Technical detail  ·  Appendix for engineers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2A05B"/>
                </a:solidFill>
              </a:rPr>
              <a:t>15 October 2026  ·  Commit 7604ce4 (main)  ·  Code-only audit — live systems NOT tested (UNVERIFIED)  ·  Not claimed secure or production-ready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How to read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17 slides · Sections A (slides 3–6) · B (7–14) · Appendix + close (15–17) · All numbers from HTML report v1.1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0604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4495C"/>
                </a:solidFill>
              </a:rPr>
              <a:t>A · STORY (3–6)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A72"/>
                </a:solidFill>
              </a:rPr>
              <a:t>Plain-English intro, at-a-glance counts, what-is-built, language 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645920"/>
            <a:ext cx="260604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4495C"/>
                </a:solidFill>
              </a:rPr>
              <a:t>B · SYSTEM (7–11)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A72"/>
                </a:solidFill>
              </a:rPr>
              <a:t>Stack, architecture diagram, database + RLS, feature deep-dives I &amp; 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60604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4495C"/>
                </a:solidFill>
              </a:rPr>
              <a:t>B · RISK (12–14)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A72"/>
                </a:solidFill>
              </a:rPr>
              <a:t>Security chart + findings, quality/testing, launch-readiness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645920"/>
            <a:ext cx="260604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4495C"/>
                </a:solidFill>
              </a:rPr>
              <a:t>CLOSE (15–17)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A72"/>
                </a:solidFill>
              </a:rPr>
              <a:t>What was not checked, overall assessment, appendix +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900" b="0">
                <a:solidFill>
                  <a:srgbClr val="5B6A72"/>
                </a:solidFill>
              </a:rPr>
              <a:t>Source: docs/OUSTIANS_TECHNICAL_REPORT.html v1.1 · Labels CONFIRMED / LIVE UNVERIFIED / NOT FOUND IN REPO preserved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In plain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Part A · for investors + university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300">
                <a:solidFill>
                  <a:srgbClr val="11242B"/>
                </a:solidFill>
              </a:rPr>
              <a:t>•  Oustians is a private social app for OUST students: campus feed with photos, expiring stories, study groups, messaging, events and notifications — in English and Arabic.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1242B"/>
                </a:solidFill>
              </a:rPr>
              <a:t>•  Built end to end: core features are wired through app → server logic → database. 70/70 unit tests pass over reactions, media, stories, group size, roles, suggestions.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1242B"/>
                </a:solidFill>
              </a:rPr>
              <a:t>•  Audit read the code only — live servers, oustians.com address, and email delivery were NOT tested (UNVERIFIED).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1242B"/>
                </a:solidFill>
              </a:rPr>
              <a:t>•  Four must-fix items before wider launch: avatar file check, story auto-cleanup, automated checks on every change (CI), backup-restore drill. Not claimed secure or production-ready.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900" b="0">
                <a:solidFill>
                  <a:srgbClr val="5B6A72"/>
                </a:solidFill>
              </a:rPr>
              <a:t>Jargon-free zone · technical terms are glossed where they first appear in Part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Counts from the 13-row features table: 11 Implemented + 2 Partial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56032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3600" b="1">
                <a:solidFill>
                  <a:srgbClr val="14495C"/>
                </a:solidFill>
              </a:rPr>
              <a:t>11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1242B"/>
                </a:solidFill>
              </a:rPr>
              <a:t>features fully built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A72"/>
                </a:solidFill>
              </a:rPr>
              <a:t>(+2 partial)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554480"/>
            <a:ext cx="256032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3600" b="1">
                <a:solidFill>
                  <a:srgbClr val="14495C"/>
                </a:solidFill>
              </a:rPr>
              <a:t>70/70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1242B"/>
                </a:solidFill>
              </a:rPr>
              <a:t>unit tests passing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A72"/>
                </a:solidFill>
              </a:rPr>
              <a:t>(6 suites green)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256032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3600" b="1">
                <a:solidFill>
                  <a:srgbClr val="14495C"/>
                </a:solidFill>
              </a:rPr>
              <a:t>4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1242B"/>
                </a:solidFill>
              </a:rPr>
              <a:t>must-fix before launch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A72"/>
                </a:solidFill>
              </a:rPr>
              <a:t>(TD-001,002,003,010)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554480"/>
            <a:ext cx="256032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3600" b="1">
                <a:solidFill>
                  <a:srgbClr val="14495C"/>
                </a:solidFill>
              </a:rPr>
              <a:t>6</a:t>
            </a:r>
          </a:p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1242B"/>
                </a:solidFill>
              </a:rPr>
              <a:t>security findings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A72"/>
                </a:solidFill>
              </a:rPr>
              <a:t>(3 Med / 2 Low / 1 Info)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900" b="0">
                <a:solidFill>
                  <a:srgbClr val="5B6A72"/>
                </a:solidFill>
              </a:rPr>
              <a:t>Denominator for code stats: 24,282 first-party lines (recounted wc -l, see slide 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What is built — one line 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13 features · green = Built · amber = Partial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11242B"/>
                </a:solidFill>
              </a:rPr>
              <a:t>Accounts &amp; approval — Invite-code join + approval gate   </a:t>
            </a:r>
            <a:r>
              <a:rPr sz="950" b="1">
                <a:solidFill>
                  <a:srgbClr val="1E7E46"/>
                </a:solidFill>
              </a:rPr>
              <a:t>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1965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11242B"/>
                </a:solidFill>
              </a:rPr>
              <a:t>Profiles — Page + photo + editable details   </a:t>
            </a:r>
            <a:r>
              <a:rPr sz="950" b="1">
                <a:solidFill>
                  <a:srgbClr val="1E7E46"/>
                </a:solidFill>
              </a:rPr>
              <a:t>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11242B"/>
                </a:solidFill>
              </a:rPr>
              <a:t>Posts &amp; photos — Campus feed, text + photo   </a:t>
            </a:r>
            <a:r>
              <a:rPr sz="950" b="1">
                <a:solidFill>
                  <a:srgbClr val="1E7E46"/>
                </a:solidFill>
              </a:rPr>
              <a:t>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2432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11242B"/>
                </a:solidFill>
              </a:rPr>
              <a:t>Reactions &amp; comments — 4 types + threaded replies   </a:t>
            </a:r>
            <a:r>
              <a:rPr sz="950" b="1">
                <a:solidFill>
                  <a:srgbClr val="1E7E46"/>
                </a:solidFill>
              </a:rPr>
              <a:t>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26664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11242B"/>
                </a:solidFill>
              </a:rPr>
              <a:t>Stories — Photo/video expiring (no auto-cleanup)   </a:t>
            </a:r>
            <a:r>
              <a:rPr sz="950" b="1">
                <a:solidFill>
                  <a:srgbClr val="9A6B1A"/>
                </a:solidFill>
              </a:rPr>
              <a:t>PARTIAL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11242B"/>
                </a:solidFill>
              </a:rPr>
              <a:t>Presentation groups — Subject groups, size cap tested   </a:t>
            </a:r>
            <a:r>
              <a:rPr sz="950" b="1">
                <a:solidFill>
                  <a:srgbClr val="1E7E46"/>
                </a:solidFill>
              </a:rPr>
              <a:t>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3133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11242B"/>
                </a:solidFill>
              </a:rPr>
              <a:t>Connections — Suggestions + connect   </a:t>
            </a:r>
            <a:r>
              <a:rPr sz="950" b="1">
                <a:solidFill>
                  <a:srgbClr val="1E7E46"/>
                </a:solidFill>
              </a:rPr>
              <a:t>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3367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11242B"/>
                </a:solidFill>
              </a:rPr>
              <a:t>Chat — Auto-opens on accept, realtime   </a:t>
            </a:r>
            <a:r>
              <a:rPr sz="950" b="1">
                <a:solidFill>
                  <a:srgbClr val="1E7E46"/>
                </a:solidFill>
              </a:rPr>
              <a:t>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3600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11242B"/>
                </a:solidFill>
              </a:rPr>
              <a:t>Events / Notifications — Create+RSVP / bell + read-unread   </a:t>
            </a:r>
            <a:r>
              <a:rPr sz="950" b="1">
                <a:solidFill>
                  <a:srgbClr val="1E7E46"/>
                </a:solidFill>
              </a:rPr>
              <a:t>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38344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11242B"/>
                </a:solidFill>
              </a:rPr>
              <a:t>Badges &amp; admin — Staff/dean badges + queues   </a:t>
            </a:r>
            <a:r>
              <a:rPr sz="950" b="1">
                <a:solidFill>
                  <a:srgbClr val="1E7E46"/>
                </a:solidFill>
              </a:rPr>
              <a:t>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11242B"/>
                </a:solidFill>
              </a:rPr>
              <a:t>EN/AR + themes — RTL/LTR + light/dark   </a:t>
            </a:r>
            <a:r>
              <a:rPr sz="950" b="1">
                <a:solidFill>
                  <a:srgbClr val="1E7E46"/>
                </a:solidFill>
              </a:rPr>
              <a:t>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4301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050">
                <a:solidFill>
                  <a:srgbClr val="11242B"/>
                </a:solidFill>
              </a:rPr>
              <a:t>Search — Members only; no post search   </a:t>
            </a:r>
            <a:r>
              <a:rPr sz="950" b="1">
                <a:solidFill>
                  <a:srgbClr val="9A6B1A"/>
                </a:solidFill>
              </a:rPr>
              <a:t>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Codebase language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Method: wc -l over src/**, supabase/migrations/*.sql, scripts/*.mjs, tests/*.mjs, public/icon.svg · excl. node_modules/.next/lockfile · database.types.ts (1,497 lines) INCLUDED · total 24,282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51206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5544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100">
                <a:solidFill>
                  <a:srgbClr val="11242B"/>
                </a:solidFill>
              </a:rPr>
              <a:t>•  TSX 9,904 (40.8%) — routes, components, client islands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1242B"/>
                </a:solidFill>
              </a:rPr>
              <a:t>•  TS 8,509 (35.0%) — Server Actions, queries, guards, Supabase clients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1242B"/>
                </a:solidFill>
              </a:rPr>
              <a:t>•  SQL 3,971 (16.4%) — 16 migrations, ~62 RLS policies, ~40 RPCs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1242B"/>
                </a:solidFill>
              </a:rPr>
              <a:t>•  JSON 1,068 (4.4%) — EN/AR catalogues ~534 lines each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1242B"/>
                </a:solidFill>
              </a:rPr>
              <a:t>•  JS 554 (2.3%) — admin scripts, e2e, configs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1242B"/>
                </a:solidFill>
              </a:rPr>
              <a:t>•  CSS 276 (1.1%) — tokens + Tailwind v4 theme (globals.css)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900" b="0">
                <a:solidFill>
                  <a:srgbClr val="5B6A72"/>
                </a:solidFill>
              </a:rPr>
              <a:t>TS total 75.8% (18,413) · SVG icon adds 8 display lines outside denominator · Evidence: package.json, tsconfig strict ES2017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CONFIRMED from repo files · live behaviour UNVERIFIED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0604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4495C"/>
                </a:solidFill>
              </a:rPr>
              <a:t>Frontend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1242B"/>
                </a:solidFill>
              </a:rPr>
              <a:t>next 16.3.6 · react 19.2.8
next-intl 4.14.6 (EN/AR+RTL)
next-themes, lucide, tailwind v4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554480"/>
            <a:ext cx="260604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4495C"/>
                </a:solidFill>
              </a:rPr>
              <a:t>Backend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1242B"/>
                </a:solidFill>
              </a:rPr>
              <a:t>Next Server Actions on Vercel
(dub1) · Supabase-only
No custom REST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260604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4495C"/>
                </a:solidFill>
              </a:rPr>
              <a:t>Data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1242B"/>
                </a:solidFill>
              </a:rPr>
              <a:t>supabase-js 2.117.1 + ssr
Postgres + RLS · RPC-first
Realtime for 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554480"/>
            <a:ext cx="260604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4495C"/>
                </a:solidFill>
              </a:rPr>
              <a:t>Media/Auth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1242B"/>
                </a:solidFill>
              </a:rPr>
              <a:t>avatars/post-media/story-media
Ticket→upload→commit
Invite gate + guards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26060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4495C"/>
                </a:solidFill>
              </a:rPr>
              <a:t>Quality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1242B"/>
                </a:solidFill>
              </a:rPr>
              <a:t>zod 4.6.5 · eslint · prettier
TS strict · 70 tests green
No CI workflow (TD-003)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114800"/>
            <a:ext cx="26060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4495C"/>
                </a:solidFill>
              </a:rPr>
              <a:t>Hosting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1242B"/>
                </a:solidFill>
              </a:rPr>
              <a:t>Vercel dub1 + Supabase linked
SITE_URL for redirects
DNS/TLS UNVERIFIED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26060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4495C"/>
                </a:solidFill>
              </a:rPr>
              <a:t>Env names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1242B"/>
                </a:solidFill>
              </a:rPr>
              <a:t>SITE_URL · SUPABASE_URL
PUBLISHABLE_KEY · SERVICE_ROLE
RATE_LIMIT_SALT (no values)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4114800"/>
            <a:ext cx="260604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4495C"/>
                </a:solidFill>
              </a:rPr>
              <a:t>AI tooling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11242B"/>
                </a:solidFill>
              </a:rPr>
              <a:t>No configuration found
in repo · NOT FOUND IN REPO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How the pieces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Browser → Vercel (SSR + Actions) → Supabase (Auth/Postgres/Storage/Realtime) → Storage CDN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14600" cy="1737360"/>
          </a:xfrm>
          <a:prstGeom prst="roundRect">
            <a:avLst/>
          </a:prstGeom>
          <a:solidFill>
            <a:srgbClr val="144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Student browser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D9EDEF"/>
                </a:solidFill>
              </a:rPr>
              <a:t>RSC + islands
EN/AR · light/dark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645920"/>
            <a:ext cx="2514600" cy="1737360"/>
          </a:xfrm>
          <a:prstGeom prst="roundRect">
            <a:avLst/>
          </a:prstGeom>
          <a:solidFill>
            <a:srgbClr val="0D3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Vercel dub1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D9EDEF"/>
                </a:solidFill>
              </a:rPr>
              <a:t>SSR + Server Actions
proxy.ts + guards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514600" cy="1737360"/>
          </a:xfrm>
          <a:prstGeom prst="roundRect">
            <a:avLst/>
          </a:prstGeom>
          <a:solidFill>
            <a:srgbClr val="C2A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D3444"/>
                </a:solidFill>
              </a:rPr>
              <a:t>Supabase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241D0D"/>
                </a:solidFill>
              </a:rPr>
              <a:t>Auth · Postgres RLS (~62)
~40 RPCs · Realtime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645920"/>
            <a:ext cx="25146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4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4495C"/>
                </a:solidFill>
              </a:rPr>
              <a:t>Storage CDN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B6A72"/>
                </a:solidFill>
              </a:rPr>
              <a:t>avatars
post-media · story-media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100">
                <a:solidFill>
                  <a:srgbClr val="11242B"/>
                </a:solidFill>
              </a:rPr>
              <a:t>•  Request pipeline: Server Action (button-triggered server function) → Zod (data-shape checker) → requireApprovedMember/requireAdmin guard → RPC (named database routine) or RLS-checked query → revalidate.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1242B"/>
                </a:solidFill>
              </a:rPr>
              <a:t>•  Uploads: ticket → direct-to-storage → commit row, magic-byte sniffed (first bytes confirm real type) — except avatar ticket gap (SEC-001).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1242B"/>
                </a:solidFill>
              </a:rPr>
              <a:t>•  Chat: browser Realtime subscription; connection-accept auto-opens conversation. No queue / cron / search service / analytics / payments in code; email = Supabase Auth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Database +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~28 tables · ~62 RLS policies · ~40 RPCs · 3 buckets · 16 migrations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Identity: profiles, invite_codes, invite_code_uses, universities, university_subjects/roles, user_university_roles, user_role_audit_logs, rate_limits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Social: posts, post_media, post_likes, post_reactions [UNIQUE(post,user,type)], post_comments, comment_reactions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Ephemeral: stories, story_media (photo+video since migration 29000000*), story_views — expiry filtered at read time, no purge job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Groups/chat/events: presentation_groups + members + invitations · connections · conversations + members + messages · events + event_rsvps · notifications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RLS examples: profiles_select_own/approved/admin · posts/comments/stories_select · avatar + media bucket gates · notifications own-only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*29000000 = update widening story uploads from photos-only to photos+video, split across two files — re-verify both apply before live push.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863840" y="1554480"/>
          <a:ext cx="3749039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900" b="0">
                <a:solidFill>
                  <a:srgbClr val="5B6A72"/>
                </a:solidFill>
              </a:rPr>
              <a:t>Uniqueness + cascades verified · Missing: full-text (FTS) indexes, story purge schedule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Feature deep-dive I — feed, reactions,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Each traced UI → Action → RPC/table (a button alone was never accepted as proof)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Posts + photos   |   post-composer / FeedComposer   |   createPost→create_post() · posts+post_media   |  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33472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Reactions (fire/insight/same/talk)   |   reaction-bar/button/sheet   |   react_to_post() · triggers→notifications   |  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03904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Comments + replies   |   threaded comment UI   |   addComment · handle_new_comment   |  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974336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Stories + video   |   composer/tray/viewer (354+465 lines)   |   create/view/delete_story() · expires_at filter   |   PARTIAL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900" b="0">
                <a:solidFill>
                  <a:srgbClr val="5B6A72"/>
                </a:solidFill>
              </a:rPr>
              <a:t>Stories PARTIAL only because expired rows/files have no scheduled purge (TD-002) · post/story creates are not idempotent (retry = duplicate)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Feature deep-dive II — groups, chat, events,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Guards: requireApprovedMember on writes · requireAdmin on moderation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Presentation groups   |   group-form + pages   |   create/invite/respond/leave RPCs · capacity.test green   |  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33472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Connections + suggestions   |   suggested-members UI   |   set_connection() · suggestions.test green   |  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03904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Chat   |   chat pages + thread Realtime   |   start_conversation() · auto-open on accept   |  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974336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Events + RSVP / Notifications / Badges   |   event-form/rsvp-button · bell · role-badge   |   handle_new_event/rsvp() · maintain_reaction_notification() · set_user_role_verification()+audit   |  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900" b="0">
                <a:solidFill>
                  <a:srgbClr val="5B6A72"/>
                </a:solidFill>
              </a:rPr>
              <a:t>Search PARTIAL: ilike member scan, no FTS, no post/event search (TD-007) · i18n: next-intl routing, logical CSS, rtl: variant, profiles.language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Security findings (6) — not claimed secure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Confirmed = code evidence · Potential = plausible, needs live check · Info = unverified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40233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0" y="155448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SEC-001 MEDIUM · Confirmed — avatar ticket lacks magic-byte sniff (disguised-file risk) → TD-001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SEC-002 MEDIUM · Confirmed — expired story files may outlive row filter → signed URLs or purge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SEC-003 MEDIUM · Potential — write-path rate limits cover auth only → TD-006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SEC-004 LOW · Confirmed — no CSP header (planned M8) → TD-004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SEC-005 LOW · Potential — service-role key safety = convention only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SEC-006 INFO · Not verified — no CI/SAST/dependabot; run npm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900" b="0">
                <a:solidFill>
                  <a:srgbClr val="5B6A72"/>
                </a:solidFill>
              </a:rPr>
              <a:t>Controls present: JWT + guards + RLS + storage gates + Zod + DB limiter + baseline headers · no dangerouslySetInnerHTML · no string-built SQL · no hardcoded secrets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Quality, testing +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typecheck PASS · lint PASS · 70/70 tests PASS (this audit) · no benchmarks run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32918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06240" y="1554480"/>
            <a:ext cx="7406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Suites green: reactions, media image/video, stories, group capacity, roles, suggestions (node --test).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Gaps: auth/guards, chat, events, notifications, RLS/storage rules untested; e2e script (tests/reactions.e2e.mjs) needs live project.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Maintainability: clear feature modules; oversized post-card 607 / story-viewer 462 / composer 487 lines → split (TD-008, P2).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Perf: cursor pagination + RSC 30s stale + next/image 30d cache = good; N+1 risk (list then per-item queries) in rings/cards; ilike search unindexed.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1242B"/>
                </a:solidFill>
              </a:rPr>
              <a:t>•  Ops gaps: no error tracking (TD-009), no backup proof (TD-010), no rollback story (TD-012), stale README milestones (TD-011).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900" b="0">
                <a:solidFill>
                  <a:srgbClr val="5B6A72"/>
                </a:solidFill>
              </a:rPr>
              <a:t>No capacity or speed claims made · load behaviour of group-cap + connection-accept races UNVERIFIED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Launch readiness — must fix before launch (P0)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Effort = estimate from repo debt sizes: S &lt;1 day · S–M / M = 1–3 days (single-dev assumption)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495C"/>
                </a:solidFill>
              </a:rPr>
              <a:t>TD-001 · Avatar upload check  |  Reject disguised files; mirror image/video sniff  |  MUST FIX BEFORE LAUNCH  |  &lt;1 day *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24912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495C"/>
                </a:solidFill>
              </a:rPr>
              <a:t>TD-002 · Story auto-cleanup  |  Nightly purge of expired rows/files  |  MUST FIX BEFORE LAUNCH  |  1–3 days 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95344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495C"/>
                </a:solidFill>
              </a:rPr>
              <a:t>TD-003 · Automated checks (CI)  |  .github workflow: typecheck+lint+test on PR  |  MUST FIX BEFORE LAUNCH  |  &lt;1 day 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65776"/>
            <a:ext cx="1106424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495C"/>
                </a:solidFill>
              </a:rPr>
              <a:t>TD-010 · Backup restore drill  |  Prove recovery on staging copy  |  MUST FIX BEFORE LAUNCH  |  &lt;1 day 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900" b="0">
                <a:solidFill>
                  <a:srgbClr val="5B6A72"/>
                </a:solidFill>
              </a:rPr>
              <a:t>*Estimates labelled estimate · based on S/S–M sizes in TECHNICAL_DEBT_AND_ROADMAP.md + scope of files (media/*, one cron, one workflow, one drill)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Launch readiness — should fix soon (P1)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Same estimate basis · ordered by risk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4495C"/>
                </a:solidFill>
              </a:rPr>
              <a:t>TD-004 · Browser header (CSP)  |  Whitelist content sources  |  SHOULD FIX SOON  |  &lt;1 day *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1106424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4495C"/>
                </a:solidFill>
              </a:rPr>
              <a:t>TD-006 · Abuse limits  |  Extend limiter to posts/comments/reactions  |  SHOULD FIX SOON  |  1–3 days 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66160"/>
            <a:ext cx="1106424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4495C"/>
                </a:solidFill>
              </a:rPr>
              <a:t>TD-007 · Search index (FTS)  |  Index + cover posts/events  |  SHOULD FIX SOON  |  1–3 days 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1106424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4495C"/>
                </a:solidFill>
              </a:rPr>
              <a:t>TD-009 · Error tracking  |  Error sink + alert drill  |  SHOULD FIX SOON  |  1–3 days 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577840"/>
            <a:ext cx="1106424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14495C"/>
                </a:solidFill>
              </a:rPr>
              <a:t>TD-005 · Missing tests  |  Guards/chat/events/notifs/RLS suites  |  SHOULD FIX SOON  |  1–3 days 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900" b="0">
                <a:solidFill>
                  <a:srgbClr val="5B6A72"/>
                </a:solidFill>
              </a:rPr>
              <a:t>P2 cleanup after launch: oversized modules (TD-008), stale README (TD-011), rollback story (TD-012)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4495C"/>
                </a:solidFill>
              </a:rPr>
              <a:t>What was not checked (UNVERIFIED)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B6A72"/>
                </a:solidFill>
              </a:rPr>
              <a:t>Code reviewed · live system not touched — nothing opened, clicked, or load-tested on real servers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73736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2000" b="1">
                <a:solidFill>
                  <a:srgbClr val="5B6A72"/>
                </a:solidFill>
              </a:rPr>
              <a:t>☐</a:t>
            </a:r>
          </a:p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Live RLS / storage / auth config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1645920"/>
            <a:ext cx="173736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2000" b="1">
                <a:solidFill>
                  <a:srgbClr val="5B6A72"/>
                </a:solidFill>
              </a:rPr>
              <a:t>☐</a:t>
            </a:r>
          </a:p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oustians.com DNS + certificate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645920"/>
            <a:ext cx="173736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2000" b="1">
                <a:solidFill>
                  <a:srgbClr val="5B6A72"/>
                </a:solidFill>
              </a:rPr>
              <a:t>☐</a:t>
            </a:r>
          </a:p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Vercel env + regions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199" y="1645920"/>
            <a:ext cx="173736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2000" b="1">
                <a:solidFill>
                  <a:srgbClr val="5B6A72"/>
                </a:solidFill>
              </a:rPr>
              <a:t>☐</a:t>
            </a:r>
          </a:p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Auth email templates +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645920"/>
            <a:ext cx="173736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2000" b="1">
                <a:solidFill>
                  <a:srgbClr val="5B6A72"/>
                </a:solidFill>
              </a:rPr>
              <a:t>☐</a:t>
            </a:r>
          </a:p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Dry-run of all 16 migrations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1645920"/>
            <a:ext cx="173736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A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 algn="ctr">
              <a:spcAft>
                <a:spcPts val="400"/>
              </a:spcAft>
            </a:pPr>
            <a:r>
              <a:rPr sz="2000" b="1">
                <a:solidFill>
                  <a:srgbClr val="5B6A72"/>
                </a:solidFill>
              </a:rPr>
              <a:t>☐</a:t>
            </a:r>
          </a:p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4495C"/>
                </a:solidFill>
              </a:rPr>
              <a:t>Load: group-cap + accept races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300" b="1">
                <a:solidFill>
                  <a:srgbClr val="14495C"/>
                </a:solidFill>
              </a:rPr>
              <a:t>Why it matters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242B"/>
                </a:solidFill>
              </a:rPr>
              <a:t>A clean code audit cannot confirm the live database, hosting, address, or emails are configured safely. Each box above needs a live check before wider launch.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</a:rPr>
              <a:t>Overall assessment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D9EDEF"/>
                </a:solidFill>
              </a:rPr>
              <a:t>Coherent, strictly-typed, access-ruled codebase with green tests on the riskiest cores (reactions, stories, group size) — held back by four must-fix pre-launch items plus live-environment verification that has not happened yet. Close them, verify live, then stage the wider launch.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C2A05B"/>
                </a:solidFill>
              </a:rPr>
              <a:t>Appendix: 24,282 lines · env names in .env.example (values never in repo) · evidence: package.json, tsconfig, next.config.ts, src/features/*/actions+queries, 16 migrations · Full detail: docs/OUSTIANS_TECHNICAL_REPORT.html v1.1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C2A05B"/>
                </a:solidFill>
              </a:rPr>
              <a:t>Not claimed secure or production-ready. Estimates in slides 14–15 are labelled estimate from repo S/M sizes.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